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320040"/>
            <a:ext cx="6537960" cy="6172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ISOM5240   ·   FALL 2026   ·   HOSPITAL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51560"/>
            <a:ext cx="594360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Same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糖友同枱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46888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One shared home dinner for a public-hospital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diabetes patient and the household.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291840"/>
            <a:ext cx="5852160" cy="6400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The dish stays the same.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Only the patient plate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06240"/>
            <a:ext cx="1847088" cy="384048"/>
          </a:xfrm>
          <a:prstGeom prst="roundRect">
            <a:avLst>
              <a:gd name="adj" fmla="val 8000"/>
            </a:avLst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279392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Not a prescription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4206240"/>
            <a:ext cx="1847088" cy="384048"/>
          </a:xfrm>
          <a:prstGeom prst="roundRect">
            <a:avLst>
              <a:gd name="adj" fmla="val 8000"/>
            </a:avLst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4279392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Not HA 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4206240"/>
            <a:ext cx="1847088" cy="384048"/>
          </a:xfrm>
          <a:prstGeom prst="roundRect">
            <a:avLst>
              <a:gd name="adj" fmla="val 8000"/>
            </a:avLst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279392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Not a second meal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93776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ha.org.hk     ·     Education tool. Not a doctor.</a:t>
            </a:r>
          </a:p>
        </p:txBody>
      </p:sp>
      <p:pic>
        <p:nvPicPr>
          <p:cNvPr id="16" name="Picture 15" descr="MgY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20040"/>
            <a:ext cx="4800600" cy="61722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040880" y="5715000"/>
            <a:ext cx="4800600" cy="777240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580644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Home table. Sauce in its own dish.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Not a patient. Not a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01  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57200"/>
            <a:ext cx="9144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The argument, before the proof.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326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先講論證。然後先證明。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691640"/>
            <a:ext cx="566928" cy="566928"/>
          </a:xfrm>
          <a:prstGeom prst="ellipse">
            <a:avLst/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051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One shared dinner.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Same dish. Only the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patient plate changes.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71800" y="3108960"/>
            <a:ext cx="384048" cy="201168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3008" y="1691640"/>
            <a:ext cx="566928" cy="566928"/>
          </a:xfrm>
          <a:prstGeom prst="ellipse">
            <a:avLst/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81051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Imbalance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260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Large spend after illness.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Thin spend on living.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Not our saving.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97880" y="3108960"/>
            <a:ext cx="384048" cy="201168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1691640"/>
            <a:ext cx="566928" cy="566928"/>
          </a:xfrm>
          <a:prstGeom prst="ellipse">
            <a:avLst/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81051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23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Patient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Wrong food from not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knowing. Or a diet the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family cannot share.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23960" y="3108960"/>
            <a:ext cx="384048" cy="201168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0" y="1463040"/>
            <a:ext cx="27432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45168" y="1691640"/>
            <a:ext cx="566928" cy="566928"/>
          </a:xfrm>
          <a:prstGeom prst="ellipse">
            <a:avLst/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81051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4231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What we add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9260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The hour before the wok.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Cook is the user.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Beside HA, not inside.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6692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Rules count the dishes. Two models only tag and retrieve. No figure on this page is a result.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01    SAME TABLE    ·    CLASSROOM PROTOTYPE    ·    NOT A 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02    PAIN 1    ·    THE PUBLIC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389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The bill is large. The living is thin.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1440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病後花得多。健康生活嘅投入細。呢個對比唔係我哋會報嘅節省。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62356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mRN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5257800" cy="2148840"/>
          </a:xfrm>
          <a:prstGeom prst="rect">
            <a:avLst/>
          </a:prstGeom>
        </p:spPr>
      </p:pic>
      <p:pic>
        <p:nvPicPr>
          <p:cNvPr id="9" name="Picture 8" descr="jHeV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525780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33087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The ward is already funded.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Government and HA spend heavily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after chronic illness.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33087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Knowing how to live gets less.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Same Table sits in this hour.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It does not cut the hospital bill.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42432" y="2468880"/>
            <a:ext cx="384048" cy="256032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02    SAME TABLE    ·    CLASSROOM PROTOTYPE    ·    NOT A RESULT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03    CONTEXT, NOT A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38912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Care starts after the illness.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照顧由病發之後先開始。數字描述系統。唔係我哋會削減嘅數。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71600"/>
            <a:ext cx="29260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210312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4632" y="37033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Persons aged 15–84 with diabetes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or raised glucose. PHS 2020–22.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9260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508760"/>
            <a:ext cx="2103120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47872" y="37033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Of people with diabetes in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Hong Kong are in HA care.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Liu et al. 2025.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371600"/>
            <a:ext cx="29260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508760"/>
            <a:ext cx="2103120" cy="2103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11112" y="37033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 glucose treatment, this share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met the target. Same paper.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Half still miss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371600"/>
            <a:ext cx="2377440" cy="3977639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96596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D6F56A"/>
                </a:solidFill>
                <a:latin typeface="WenQuanYi Zen Hei"/>
                <a:ea typeface="WenQuanYi Zen Hei"/>
                <a:cs typeface="WenQuanYi Zen Hei"/>
              </a:rPr>
              <a:t>~12,400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65176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Inpatient discharges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and deaths.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Principal diagnosis.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CHP 2024.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/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Not 12,400 deaths.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03    SAME TABLE    ·    CLASSROOM PROTOTYPE    ·    NOT A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04    PAIN 2    ·    THE LONG-TERM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38912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The patient pays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病人付兩次。呢頁命名代價，唔量度佢。</a:t>
            </a:r>
          </a:p>
        </p:txBody>
      </p:sp>
      <p:pic>
        <p:nvPicPr>
          <p:cNvPr id="6" name="Picture 5" descr="ohwU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029200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5257800"/>
            <a:ext cx="5029200" cy="822960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4754880" cy="5943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 shared table. Not our patient.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Not a Hong Kong home we studied.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1371600"/>
            <a:ext cx="6172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0" y="3749039"/>
            <a:ext cx="61722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53619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3619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Not enough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Food and the condition are not connected.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Wrong eating. The illness gets worse.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This is a lack of usable knowledge, not of will.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913632"/>
            <a:ext cx="5486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1363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A real dietary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38912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Hard to share the family meal for long.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Psychological pressure. An extra pot, shop, and cost.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A habit the household cannot share does not last.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04    SAME TABLE    ·    CLASSROOM PROTOTYPE    ·    NOT A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05   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From the source. Not from the 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從源頭係落鑊之前嗰個鐘。唔係一個金額。然後停。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566160" cy="109728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1  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The ward.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Already funded.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We do not enter.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77640" y="2286000"/>
            <a:ext cx="457200" cy="237744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13716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60520" y="1371600"/>
            <a:ext cx="3566160" cy="109728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2  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57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One shared menu,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before the wok.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This is what we add.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72400" y="2286000"/>
            <a:ext cx="457200" cy="237744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3716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955279" y="1371600"/>
            <a:ext cx="3566160" cy="109728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600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3  Then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0574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Patient plate changes.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Family plate does not.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 saving reported.</a:t>
            </a:r>
          </a:p>
        </p:txBody>
      </p:sp>
      <p:pic>
        <p:nvPicPr>
          <p:cNvPr id="20" name="Picture 19" descr="vmRN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5669280" cy="2194560"/>
          </a:xfrm>
          <a:prstGeom prst="rect">
            <a:avLst/>
          </a:prstGeom>
        </p:spPr>
      </p:pic>
      <p:pic>
        <p:nvPicPr>
          <p:cNvPr id="21" name="Picture 20" descr="MgY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31920"/>
            <a:ext cx="5623560" cy="21945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65760" y="5669280"/>
            <a:ext cx="2011680" cy="384048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5669280"/>
            <a:ext cx="2286000" cy="384048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7241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After. Not our site.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72414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D6F56A"/>
                </a:solidFill>
                <a:latin typeface="WenQuanYi Zen Hei"/>
                <a:ea typeface="WenQuanYi Zen Hei"/>
                <a:cs typeface="WenQuanYi Zen Hei"/>
              </a:rPr>
              <a:t>Before. The hour we add.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05    SAME TABLE    ·    CLASSROOM PROTOTYPE    ·    NOT A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06    FOR THE HOSPITAL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Beside HA. Not inside HA.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961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客戶即係課堂 prototype。唔係合約。唔係登入。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331720"/>
            <a:ext cx="3291840" cy="1554480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65176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D6F56A"/>
                </a:solidFill>
                <a:latin typeface="WenQuanYi Zen Hei"/>
                <a:ea typeface="WenQuanYi Zen Hei"/>
                <a:cs typeface="WenQuanYi Zen Hei"/>
              </a:rPr>
              <a:t>Classroom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D6F56A"/>
                </a:solidFill>
                <a:latin typeface="WenQuanYi Zen Hei"/>
                <a:ea typeface="WenQuanYi Zen Hei"/>
                <a:cs typeface="WenQuanYi Zen Hei"/>
              </a:rPr>
              <a:t>prototype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50876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Beside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74519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Do not open HA Go,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write a record, 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replace a follow-up.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137160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31352" y="150876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Already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1874519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Wards, medicine,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follow-up, a diary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after the meal.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6052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2976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What we 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66344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One shared menu,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before the wok,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three moves. Then stop.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416052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429768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Will not say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4663440"/>
            <a:ext cx="306324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 saved admissions.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 changed medicine.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 cut budget 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06    SAME TABLE    ·    CLASSROOM PROTOTYPE    ·    NOT A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07    THE HOUSEHOLD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The cook is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今晚煮飯嗰個先係用家。唔係醫生。</a:t>
            </a:r>
          </a:p>
        </p:txBody>
      </p:sp>
      <p:pic>
        <p:nvPicPr>
          <p:cNvPr id="6" name="Picture 5" descr="jHeV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3931920" cy="3063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3977639"/>
            <a:ext cx="3931920" cy="411480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041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Before the plate. Not a clinician.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7315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9047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9047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The person who cooks tonight.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7315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6771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6771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One menu. Shared names. Three moves.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880360"/>
            <a:ext cx="7315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04495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449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Names to buy. No price. No checkout.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657600"/>
            <a:ext cx="7315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822191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22191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Stays at the table. Not a mood score.</a:t>
            </a:r>
          </a:p>
        </p:txBody>
      </p:sp>
      <p:pic>
        <p:nvPicPr>
          <p:cNvPr id="21" name="Picture 20" descr="01_cola_onion_bee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617720"/>
            <a:ext cx="1234440" cy="1051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91640" y="47091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Cola onion beef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Not a prescription</a:t>
            </a:r>
          </a:p>
        </p:txBody>
      </p:sp>
      <p:pic>
        <p:nvPicPr>
          <p:cNvPr id="23" name="Picture 22" descr="04_cabbage_s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4617720"/>
            <a:ext cx="1234440" cy="10515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0" y="47091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Cabbage soup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Not a diet score</a:t>
            </a:r>
          </a:p>
        </p:txBody>
      </p:sp>
      <p:pic>
        <p:nvPicPr>
          <p:cNvPr id="25" name="Picture 24" descr="05_pepper_tomato_por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617720"/>
            <a:ext cx="1234440" cy="10515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64040" y="470916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Pepper tomato pork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Not a clinical 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07    SAME TABLE    ·    CLASSROOM PROTOTYPE    ·    NOT A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08    THE OBJECT IN THE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8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Five pages. Each one job.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2240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Tonight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People and one sentence.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The ring counts dishes.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2" y="1051560"/>
            <a:ext cx="2240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1170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6352" y="150876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205740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Labelled library only.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Unlabelled stays a warning.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38344" y="1051560"/>
            <a:ext cx="2240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1170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50876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How to cook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5740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Only fields the dataset has.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 invented kcal.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051560"/>
            <a:ext cx="2240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1170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150876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How to 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4656" y="205740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Same dishes. Three moves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 the patient plate only.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1051560"/>
            <a:ext cx="2240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117043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1508760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2057400"/>
            <a:ext cx="1965960" cy="12801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Names to buy.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No price. No checkout.</a:t>
            </a:r>
          </a:p>
        </p:txBody>
      </p:sp>
      <p:pic>
        <p:nvPicPr>
          <p:cNvPr id="25" name="Picture 24" descr="FvKO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4206240" cy="23317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65760" y="5715000"/>
            <a:ext cx="4206240" cy="457200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Sauce in its own dish. That is the product.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3840480"/>
            <a:ext cx="70408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3977639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Hardcoded, not a model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343400"/>
            <a:ext cx="6675120" cy="1371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Tonight should not repeat most of the last 14 days.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The 60% line is written down. The ring counts dishes, not a diet score.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Visual 4.0, function 3.4. A mock. Not a live app.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669280"/>
            <a:ext cx="6583680" cy="201168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5669280"/>
            <a:ext cx="3950208" cy="201168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58978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60% written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08    SAME TABLE    ·    CLASSROOM PROTOTYPE    ·    NOT A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09    TECHNICAL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84048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Rules count. Models only tag and retrieve.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6868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960120"/>
            <a:ext cx="1883663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Cook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08760"/>
            <a:ext cx="1883663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One sentence.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Optional voice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into the same box.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868680"/>
            <a:ext cx="30175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15768" y="960120"/>
            <a:ext cx="2798063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Pipeline 1  ·  fine-tune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5768" y="1508760"/>
            <a:ext cx="2798063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mDeBERTa-v3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mnli-xnli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method, meat-or-veg,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868680"/>
            <a:ext cx="2880360" cy="1691640"/>
          </a:xfrm>
          <a:prstGeom prst="roundRect">
            <a:avLst>
              <a:gd name="adj" fmla="val 8000"/>
            </a:avLst>
          </a:prstGeom>
          <a:solidFill>
            <a:srgbClr val="D6F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960120"/>
            <a:ext cx="2660904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Python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1508760"/>
            <a:ext cx="2660904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Headcount → dishes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3 moves · 20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14-day ring · 60%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868680"/>
            <a:ext cx="2971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79407" y="960120"/>
            <a:ext cx="2752344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Pipeline 2  ·  no fine-tune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1508760"/>
            <a:ext cx="2752344" cy="9144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MiniLM-L12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retrieves dishes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already in the library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331720" y="1554480"/>
            <a:ext cx="256032" cy="182880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532120" y="1554480"/>
            <a:ext cx="256032" cy="182880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595360" y="1554480"/>
            <a:ext cx="256032" cy="182880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97480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Written table. Not a model output. The case to remember: 4 people → 6 dishes.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0175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0906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1 people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429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2 dishes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04288" y="30175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04288" y="30906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2 people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3429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3 dishes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30175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6" y="30906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3 people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3429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4 dishes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0175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1344" y="30906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D6F56A"/>
                </a:solidFill>
                <a:latin typeface="WenQuanYi Zen Hei"/>
                <a:ea typeface="WenQuanYi Zen Hei"/>
                <a:cs typeface="WenQuanYi Zen Hei"/>
              </a:rPr>
              <a:t>4 people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81344" y="3429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dishes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30175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19872" y="30906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5 people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429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7 dishes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30175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0" y="309067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6 people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4290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8 dishes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160520"/>
            <a:ext cx="11430000" cy="5029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Library preferred, not locked: about 100 of about 1,799. Counts TO_RUN. App loads the Hub id from the notebook, not the base id. Hub, app, GitHub: TBD.</a:t>
            </a:r>
          </a:p>
        </p:txBody>
      </p:sp>
      <p:pic>
        <p:nvPicPr>
          <p:cNvPr id="40" name="Picture 39" descr="01_cola_onion_be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1051560" cy="9144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508760" y="484632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Onion beef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Library candidate. Not a result.</a:t>
            </a:r>
          </a:p>
        </p:txBody>
      </p:sp>
      <p:pic>
        <p:nvPicPr>
          <p:cNvPr id="42" name="Picture 41" descr="03_liangban_gans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4754880"/>
            <a:ext cx="1051560" cy="9144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434840" y="484632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Cold shreds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Library candidate. Not a result.</a:t>
            </a:r>
          </a:p>
        </p:txBody>
      </p:sp>
      <p:pic>
        <p:nvPicPr>
          <p:cNvPr id="44" name="Picture 43" descr="04_cabbage_s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754880"/>
            <a:ext cx="1051560" cy="9144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60920" y="484632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Cabbage soup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Library candidate. Not a result.</a:t>
            </a:r>
          </a:p>
        </p:txBody>
      </p:sp>
      <p:pic>
        <p:nvPicPr>
          <p:cNvPr id="46" name="Picture 45" descr="05_pepper_tomato_por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754880"/>
            <a:ext cx="1051560" cy="9144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287000" y="4846320"/>
            <a:ext cx="1691640" cy="7772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Pepper pork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Library candidate. Not a result.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09    SAME TABLE    ·    CLASSROOM PROTOTYPE    ·    NOT A 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10    THE ONLY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6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Forty-five words. No more.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745236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086600" cy="24688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Help the family cook plate one shared home dinner for a public-hospital diabetes patient and the household. The dish stays the same. Only the patient plate changes, using simple portion rules. Classroom prototype for the Hospital Authority. Not a prescription. Not connected to HA 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069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1605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Colab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45262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Fine-tune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Pipeline 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33472" y="4617720"/>
            <a:ext cx="219456" cy="182880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4069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41605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D6F56A"/>
                </a:solidFill>
                <a:latin typeface="WenQuanYi Zen Hei"/>
                <a:ea typeface="WenQuanYi Zen Hei"/>
                <a:cs typeface="WenQuanYi Zen Hei"/>
              </a:rPr>
              <a:t>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45262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One model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leaves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48072" y="4617720"/>
            <a:ext cx="219456" cy="182880"/>
          </a:xfrm>
          <a:prstGeom prst="rightArrow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94960" y="4069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4688" y="41605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241C"/>
                </a:solidFill>
                <a:latin typeface="WenQuanYi Zen Hei"/>
                <a:ea typeface="WenQuanYi Zen Hei"/>
                <a:cs typeface="WenQuanYi Zen Hei"/>
              </a:rPr>
              <a:t>Streamlit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45262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Same model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73024"/>
                </a:solidFill>
                <a:latin typeface="WenQuanYi Zen Hei"/>
                <a:ea typeface="WenQuanYi Zen Hei"/>
                <a:cs typeface="WenQuanYi Zen Hei"/>
              </a:rPr>
              <a:t>enters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6235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A mismatch is a penalty. Ids are locked. URLs and metrics stay TO_RUN.</a:t>
            </a:r>
          </a:p>
        </p:txBody>
      </p:sp>
      <p:pic>
        <p:nvPicPr>
          <p:cNvPr id="19" name="Picture 18" descr="MgY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05840"/>
            <a:ext cx="3794760" cy="4572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046720" y="5029200"/>
            <a:ext cx="3794760" cy="548640"/>
          </a:xfrm>
          <a:prstGeom prst="rect">
            <a:avLst/>
          </a:prstGeom>
          <a:solidFill>
            <a:srgbClr val="0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50749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Education tool. Not a doctor.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Does not change medicine.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6537960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5C6A62"/>
                </a:solidFill>
                <a:latin typeface="WenQuanYi Zen Hei"/>
                <a:ea typeface="WenQuanYi Zen Hei"/>
                <a:cs typeface="WenQuanYi Zen Hei"/>
              </a:rPr>
              <a:t>10    SAME TABLE    ·    CLASSROOM PROTOTYPE    ·    NOT A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 Table — PPT 2.1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